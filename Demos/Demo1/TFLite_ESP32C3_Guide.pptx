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50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19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472D-BAF9-4DCB-CD59-3E401758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F95EF-A07E-9B3F-B7C4-5F47D1D6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EC3A2-F335-91F6-10F6-995FEDBD9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30ED0-AD84-A251-C096-65AC142D5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86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82296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TensorFlow Lite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ESP32-C3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Offline Training to On-Device Inference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Handwritten Digit Recognition  •  A Step-by-Step Guide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CCSL Lab  •  KAUST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Picture: Our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 neural network on a PC, shrink it, then run it on a tiny chip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C1A30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97280" y="4206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ESP32-C3 is too small to train a model. We train on a powerful PC, then transfer only the trained weights to the microcontroller for inference (prediction only).</a:t>
            </a:r>
            <a:endParaRPr lang="en-US" sz="1100" dirty="0"/>
          </a:p>
        </p:txBody>
      </p:sp>
      <p:pic>
        <p:nvPicPr>
          <p:cNvPr id="28" name="Picture 2" descr="ESP32 C3 SuperMini">
            <a:extLst>
              <a:ext uri="{FF2B5EF4-FFF2-40B4-BE49-F238E27FC236}">
                <a16:creationId xmlns:a16="http://schemas.microsoft.com/office/drawing/2014/main" id="{A40B2767-F87E-0256-E137-0B8FC4951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65" y="1430993"/>
            <a:ext cx="1845809" cy="189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Introducing ESP32-C3 | Espressif Systems">
            <a:extLst>
              <a:ext uri="{FF2B5EF4-FFF2-40B4-BE49-F238E27FC236}">
                <a16:creationId xmlns:a16="http://schemas.microsoft.com/office/drawing/2014/main" id="{999CBC15-4477-7706-FC29-2C1D7D22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877" y="1123268"/>
            <a:ext cx="2931101" cy="30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B3077BB-996E-B2E2-15E2-18AE7727A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585" y="1604520"/>
            <a:ext cx="2260449" cy="1695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45C82-B632-C1CB-6F4C-74371AFE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C4049D-95AD-A4D7-99C1-474ED0DBEE39}"/>
              </a:ext>
            </a:extLst>
          </p:cNvPr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D68027-6FE3-AC61-7AA2-6EACB141466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EFF28F-AFCD-CBDE-A305-2EB7D1B467BC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Picture: Our Workflow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765E95-9BED-1A6A-AC17-5B36558822F9}"/>
              </a:ext>
            </a:extLst>
          </p:cNvPr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 neural network on a PC, shrink it, then run it on a tiny chip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EB176C-5918-84F0-3504-C9EA616BE7C9}"/>
              </a:ext>
            </a:extLst>
          </p:cNvPr>
          <p:cNvSpPr/>
          <p:nvPr/>
        </p:nvSpPr>
        <p:spPr>
          <a:xfrm>
            <a:off x="320040" y="137160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2B5A7E2-407A-0074-8C8C-EBA468DA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548640" cy="5486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AD11C7A-6E78-7BA6-3CD8-0B6E45E38F0D}"/>
              </a:ext>
            </a:extLst>
          </p:cNvPr>
          <p:cNvSpPr/>
          <p:nvPr/>
        </p:nvSpPr>
        <p:spPr>
          <a:xfrm>
            <a:off x="4114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Train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D8209B-8068-8AFA-F49F-A7F19C6C298A}"/>
              </a:ext>
            </a:extLst>
          </p:cNvPr>
          <p:cNvSpPr/>
          <p:nvPr/>
        </p:nvSpPr>
        <p:spPr>
          <a:xfrm>
            <a:off x="457200" y="2788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a neural network on PC using TensorFlow + MNIST data</a:t>
            </a:r>
            <a:endParaRPr lang="en-US" sz="11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EAEB7130-B611-9253-ABE2-621750784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423160"/>
            <a:ext cx="228600" cy="228600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3727AF5E-3DC8-5D11-25A2-574A42BB02D1}"/>
              </a:ext>
            </a:extLst>
          </p:cNvPr>
          <p:cNvSpPr/>
          <p:nvPr/>
        </p:nvSpPr>
        <p:spPr>
          <a:xfrm>
            <a:off x="2514600" y="137160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8CE84C88-D8CF-C1CF-A3E4-BD2E307DB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645920"/>
            <a:ext cx="548640" cy="54864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6AC5375-118B-D07D-4449-17F2625471F8}"/>
              </a:ext>
            </a:extLst>
          </p:cNvPr>
          <p:cNvSpPr/>
          <p:nvPr/>
        </p:nvSpPr>
        <p:spPr>
          <a:xfrm>
            <a:off x="26060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Evaluate</a:t>
            </a: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99CBB31-7732-4340-AE25-B0C157AB31E8}"/>
              </a:ext>
            </a:extLst>
          </p:cNvPr>
          <p:cNvSpPr/>
          <p:nvPr/>
        </p:nvSpPr>
        <p:spPr>
          <a:xfrm>
            <a:off x="2651760" y="2788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 &amp; loss to make sure the model works well</a:t>
            </a:r>
            <a:endParaRPr lang="en-US" sz="11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9A618244-0466-B163-5E4C-8C749C992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23160"/>
            <a:ext cx="228600" cy="228600"/>
          </a:xfrm>
          <a:prstGeom prst="rect">
            <a:avLst/>
          </a:prstGeom>
        </p:spPr>
      </p:pic>
      <p:sp>
        <p:nvSpPr>
          <p:cNvPr id="16" name="Shape 10">
            <a:extLst>
              <a:ext uri="{FF2B5EF4-FFF2-40B4-BE49-F238E27FC236}">
                <a16:creationId xmlns:a16="http://schemas.microsoft.com/office/drawing/2014/main" id="{2B29D4DD-7C45-108F-C1B9-228A81BE2E82}"/>
              </a:ext>
            </a:extLst>
          </p:cNvPr>
          <p:cNvSpPr/>
          <p:nvPr/>
        </p:nvSpPr>
        <p:spPr>
          <a:xfrm>
            <a:off x="4709160" y="137160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9DF9BB1F-305D-27F8-98AA-D0430B55A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645920"/>
            <a:ext cx="548640" cy="54864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F6C1216A-80C2-983B-CBB2-4023236AB741}"/>
              </a:ext>
            </a:extLst>
          </p:cNvPr>
          <p:cNvSpPr/>
          <p:nvPr/>
        </p:nvSpPr>
        <p:spPr>
          <a:xfrm>
            <a:off x="48006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Convert</a:t>
            </a:r>
            <a:endParaRPr lang="en-US" sz="16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DD58E1E-DAFF-4CF6-8ABF-BCBB29333B7F}"/>
              </a:ext>
            </a:extLst>
          </p:cNvPr>
          <p:cNvSpPr/>
          <p:nvPr/>
        </p:nvSpPr>
        <p:spPr>
          <a:xfrm>
            <a:off x="4846320" y="2788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model to TF Lite format (.tflite) — tiny &amp; optimized</a:t>
            </a:r>
            <a:endParaRPr lang="en-US" sz="1100" dirty="0"/>
          </a:p>
        </p:txBody>
      </p:sp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191FF13D-DCB5-CE70-C850-4C3040EED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423160"/>
            <a:ext cx="228600" cy="228600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72CDB110-9B61-BA2B-84B5-3F6C647E5268}"/>
              </a:ext>
            </a:extLst>
          </p:cNvPr>
          <p:cNvSpPr/>
          <p:nvPr/>
        </p:nvSpPr>
        <p:spPr>
          <a:xfrm>
            <a:off x="6903720" y="137160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BD9BB7C7-737D-1E08-DF9C-BD2F39448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645920"/>
            <a:ext cx="548640" cy="548640"/>
          </a:xfrm>
          <a:prstGeom prst="rect">
            <a:avLst/>
          </a:prstGeom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C4C1D566-3BCD-8D69-6FFD-7DBC98A3C3B2}"/>
              </a:ext>
            </a:extLst>
          </p:cNvPr>
          <p:cNvSpPr/>
          <p:nvPr/>
        </p:nvSpPr>
        <p:spPr>
          <a:xfrm>
            <a:off x="699516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Deploy</a:t>
            </a:r>
            <a:endParaRPr lang="en-US" sz="16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EAAB2323-4A4D-FBA0-069E-507537F71571}"/>
              </a:ext>
            </a:extLst>
          </p:cNvPr>
          <p:cNvSpPr/>
          <p:nvPr/>
        </p:nvSpPr>
        <p:spPr>
          <a:xfrm>
            <a:off x="7040880" y="2788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C header file, flash to ESP32-C3, run inference on-device</a:t>
            </a:r>
            <a:endParaRPr lang="en-US" sz="11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1E73E0DD-A529-4EA0-16F4-F82010CD016F}"/>
              </a:ext>
            </a:extLst>
          </p:cNvPr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C1A30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A3F5BDF3-3E3C-F88B-EB1B-F0D9705F30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297680"/>
            <a:ext cx="320040" cy="320040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B24EB3D6-F152-5F72-B903-296050A291F9}"/>
              </a:ext>
            </a:extLst>
          </p:cNvPr>
          <p:cNvSpPr/>
          <p:nvPr/>
        </p:nvSpPr>
        <p:spPr>
          <a:xfrm>
            <a:off x="1097280" y="4206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ESP32-C3 is too small to train a model. We train on a powerful PC, then transfer only the trained weights to the microcontroller for inference (prediction only).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15306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8404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24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325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library by Google for building and training machine learning models. We use it on a PC (Google Colab) to create our digit-recognition model.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38404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972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024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(TF Lite)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325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version of TensorFlow designed for microcontrollers and mobile devices. It takes a trained model and converts it to a tiny, efficient format.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331720"/>
            <a:ext cx="38404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146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low-power microcontroller with Wi-Fi &amp; Bluetooth. It has limited memory (~400 KB RAM) — perfect for running small TF Lite models at the edge.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2331720"/>
            <a:ext cx="38404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dataset of 70,000 handwritten digit images (0-9), each 28×28 pixels in grayscale. It's the "Hello World" of machine learning.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749040"/>
            <a:ext cx="384048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vs Training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09728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teaching the model (heavy, done on PC). Inference = using the trained model to make predictions (light, done on ESP32-C3).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46320" y="3749040"/>
            <a:ext cx="384048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93192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Header File (.h)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8640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 Lite model is converted into a C array stored in a .h file. This lets us include the model directly in our ESP32 firmware code.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the MNIST Dataset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 and download 60,000 training + 10,000 test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846320" cy="23774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keras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keras.models import Sequential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keras.layers import Dense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keras.optimizers import SGD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MNIST (auto from internet)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(X_train, y_train), (X_valid, y_valid) =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tf.keras.datasets.mnist.load_data()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143000"/>
            <a:ext cx="32004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252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554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import TensorFlow and Keras (a friendly API for TF). Then we download the MNIST dataset which automatically splits into training set (60K images) and test/validation set (10K images).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697480"/>
            <a:ext cx="32004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2807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keras — builds neural networks easily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 — the engine behind keras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matplotlib — for plotting graphs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— a stack of layers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 — a fully-connected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C1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53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Run this in Google Colab — it's free and has TensorFlow pre-installed!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 the Data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at your data before training!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846320" cy="20116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12 sample images in a 3x4 grid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plt.figure(figsize=(5, 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range(12):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plt.subplot(3, 4, k+1)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plt.imshow(X_train[k], cmap='Greys')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plt.axis('off')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143000"/>
            <a:ext cx="320040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258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Visualize?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 model, it's important to see what the data looks like. Each image is 28×28 pixels showing a handwritten digit from 0 to 9.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514600"/>
            <a:ext cx="32004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2624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607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grayscale handwritten digits. Each pixel is a value from 0 (black) to 255 (white). The label tells us which digit it is.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0" y="3383280"/>
            <a:ext cx="16459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71600" y="33832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4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931920"/>
            <a:ext cx="274320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840480" y="3657600"/>
            <a:ext cx="13716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840480" y="3657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 the Data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images to 1D vectors and normalize pixel values to 0-1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846320" cy="15544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28x28 images to 784-element vectors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X_train.reshape(60000, 784)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.astype('float32') / 255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X_valid = X_valid.reshape(10000, 784)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.astype('float32') / 255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Image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520440"/>
            <a:ext cx="320040" cy="3200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91840" y="3337560"/>
            <a:ext cx="20116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91840" y="3337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values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Vector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77840" y="1143000"/>
            <a:ext cx="32004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1252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— Why?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1554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(fully-connected) neural network expects a 1D input. So we flatten each 28×28 image into a single row of 784 numbers.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2468880"/>
            <a:ext cx="32004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60720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— Why?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760720" y="2880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go from 0 to 255. Dividing by 255 scales them to 0.0–1.0. This helps the network learn faster and more stably.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3794760"/>
            <a:ext cx="320040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0720" y="3904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integers to 32-bit floats because neural networks do math with decimal numbers, not whole numbers.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 Encode the Labels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digit labels into vectors the network can understand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13716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 =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 = keras.utils.to_categorical(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y_train, n_classes)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y_valid = keras.utils.to_categorical(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y_valid, n_classes)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Label  "3"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371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337560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651760" y="3154680"/>
            <a:ext cx="59436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5176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0, 0, 1, 0, 0, 0, 0, 0, 0]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72076" y="3497580"/>
            <a:ext cx="5760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0  1   2   3   4   5   6   7   8  9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303520" y="1143000"/>
            <a:ext cx="3474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One-Hot Encoding?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label "3", we create a vector of 10 zeros with a 1 at position 3. This way the network outputs a probability for each digit (0-9).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114800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 classes?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 through 9 = 10 possible categories. The output layer will have 10 neurons — one per digit.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Neural Network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3-layer fully-connected (Dense)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13716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model.add(Dense(64, activation='relu',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input_shape=(784,)))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model.add(Dense(64, activation='relu'))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model.add(Dense(10, activation='softmax'))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42900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508760" y="2926080"/>
            <a:ext cx="9601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08760" y="2926080"/>
            <a:ext cx="960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(ReLU)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42900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97480" y="2926080"/>
            <a:ext cx="9601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697480" y="2926080"/>
            <a:ext cx="960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(ReLU)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429000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886200" y="2926080"/>
            <a:ext cx="10058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886200" y="292608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(Softmax)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03520" y="1143000"/>
            <a:ext cx="34747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48640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stacked one after another — the simplest way to build a neural network in Keras.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303520" y="2103120"/>
            <a:ext cx="34747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48640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ReLU(x) = max(0, x). Introduces non-linearity so the model can learn complex patterns.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303520" y="3063240"/>
            <a:ext cx="34747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486400" y="3172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outputs into probabilities that sum to 1.0. Highest probability = predicted digit.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303520" y="4023360"/>
            <a:ext cx="34747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486400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64 neurons?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48640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for ESP32-C3's limited RAM (~400KB), but big enough to learn digit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 &amp; Train the Model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loss function, optimizer, then train for 20 epochs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13716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loss='categorical_crossentropy',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optimizer=SGD(learning_rate=0.1),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metrics=['accuracy']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00" cy="1645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X_train, y_train,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batch_size=128,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epochs=20,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verbose=1,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validation_data=(X_valid, y_valid)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143000"/>
            <a:ext cx="3474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categorical_crossentropy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for multi-class classification. Measures how far the predicted probabilities are from the true labels.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331720"/>
            <a:ext cx="3474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Optimizer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updates weights step by step to minimize the loss. Learning rate = 0.1 controls the step size.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3520440"/>
            <a:ext cx="3474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3630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&amp; Batches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= one full pass through all 60K images. Batch = 128 images processed at once. 20 epochs means the model sees each image 20 times.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C1A30"/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590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~97.5% validation accuracy after 20 epochs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 Training Results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training vs validation loss to check for overfitting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24688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history.history['loss']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val_loss = history.history['val_loss']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 = range(1, len(loss) + 1)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plt.plot(epochs, loss, 'r.', label='Training loss')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plt.plot(epochs, val_loss, 'b', label='Validation loss')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plt.title('Training and validation loss')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plt.xlabel('Epochs')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plt.ylabel('Loss')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143000"/>
            <a:ext cx="3474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252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should decrease. If training loss keeps going down but validation loss goes up, the model is overfitting (memorizing, not learning).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2743200"/>
            <a:ext cx="34747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926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2852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Result ✓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4360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training: both losses decrease smoothly and converge. Final validation loss ≈ 0.08. This means the model generalizes well to unseen data.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03520" y="4160520"/>
            <a:ext cx="347472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8640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loss:  0.78 → 0.03  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loss: 0.24 → 0.08  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 Prediction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model works on a single image before converting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20116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plt.imshow(ORI_X_valid[idx], cmap='Greys')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= model.predict(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X_valid[idx : (idx + 1)]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argmax(prediction)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print("ANS:", ans)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143000"/>
            <a:ext cx="32004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252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554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image #6 from the test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it on screen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Feed it to the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model.predict() returns 10 probabilities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argmax picks the highest one = predicted digit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37160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794760"/>
            <a:ext cx="274320" cy="274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468880" y="3474720"/>
            <a:ext cx="182880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68880" y="3474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[0.0, 0.0, ...,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0.98, 0.0]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9476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37760" y="3474720"/>
            <a:ext cx="137160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37760" y="34747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argmax()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</a:t>
            </a:r>
            <a:endParaRPr lang="en-US" sz="1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9476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949440" y="3429000"/>
            <a:ext cx="1828800" cy="1280160"/>
          </a:xfrm>
          <a:prstGeom prst="rect">
            <a:avLst/>
          </a:prstGeom>
          <a:solidFill>
            <a:srgbClr val="0C2A0C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94944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Correct!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= 8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to TensorFlow Lite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model from full TensorFlow to a tiny .tflite 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572000" cy="24688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output folder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!mkdir output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Keras model → TF Lite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 = tf.lite.TFLiteConverter\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.from_keras_model(model)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tflite_model = converter.convert()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the .tflite binary 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open("output/mnist_model.tflite", "wb")\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.write(tflite_model)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143000"/>
            <a:ext cx="34747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252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TF Lite Conversion?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TFLiteConverter takes your trained Keras model and: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Strips training-only operations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Flattens the computation graph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Optimizes for inference speed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a single compact .tflite file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3017520"/>
            <a:ext cx="34747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TensorFlow is way too large for a microcontroller. TF Lite models are typically 10-100× smaller, using only the minimum operations needed for inference.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457200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TF Model: ~MBs     →     TF Lite: ~KBs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ESP32-C3 flash memory!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Model as C Header File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.tflite binary into a C array for the ESP32 firmware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572000" cy="34747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open("mnist_model.tflite", "rb")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f.read()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each byte to hex: 0x3a, 0x7b,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c_array = ", ".join(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f"0x{b:02x}" for b in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header_content = f"""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 MNIST_MODEL_H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MNIST_MODEL_H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unsigned char mnist_model[] = {{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{c_array}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unsigned int mnist_model_len = {len(data)};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open("mnist_model.h", "w")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f.write(header_content)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097280"/>
            <a:ext cx="347472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207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 Header?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ESP32-C3 is programmed in C/C++. By converting the .tflite file into a C byte array, we can #include it directly in the firmware source code.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2606040"/>
            <a:ext cx="34747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.h file contains: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const byte array with every byte of the .tflite model in hex format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length variable so TF Lite Micro knows the model size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0" y="4069080"/>
            <a:ext cx="347472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xxd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use the Linux tool xxd: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!xxd -i model.tflite &gt; model.h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produce the same result.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Test Images as C Header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sample MNIST images in the ESP32 firmware for testing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572000" cy="35661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num_images =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selected_images = train_images[:num_images]\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.astype(np.uint8)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28x28 → 784 per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flattened = selected_images.reshape(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num_images, -1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C header with hex pixel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= f"""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NUM_IMAGES {num_images}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IMAGE_SIZE 28*28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uint8_t image_data[NUM_IMAGES]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[IMAGE_SIZE] = {{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img in flattened: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hex_vals = ", ".join(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f"0x{p:02x}" for p in img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 += f"    {{{hex_vals}}},\n"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+= "};\n"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open("image_data.h", "w")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f.write(header)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097280"/>
            <a:ext cx="34747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207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Embed Images?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ESP32-C3 has no camera or file system. By embedding test images directly in the code, we can test inference without external hardware.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2560320"/>
            <a:ext cx="347472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image_data.h?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C array: 10 images × 784 pixels each. Each pixel is stored as uint8_t (0-255). The ESP32 code will normalize these to 0.0-1.0 before feeding to the model.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0" y="4069080"/>
            <a:ext cx="3474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Use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application, you would replace these embedded images with live sensor data — for example from an ADC, camera module, or data received via BLE/HBC.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to ESP32-C3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the firmware with the model and run inference on-device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1148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ESP-IDF / Arduino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353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ESP32-C3 toolchain. Add TF Lite Micro library to your project.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11480" cy="5029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Header Files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305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"mnist_model.h"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"image_data.h"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embeds the model + test images in flash.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" cy="5029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TF Lite Interpreter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model, allocate tensors, and set up the TF Lite Micro interpreter in your setup() function.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11480" cy="5029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image data to input tensor, invoke the interpreter, read the output tensor to get the predicted digit.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11480" cy="5029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&amp; Test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62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flash via USB, open Serial Monitor. The ESP32 prints the predicted digit for each test image.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18872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ESP32-C3 Inference (simplified)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"mnist_model.h"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"image_data.h"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&lt;TensorFlowLite_ESP32.h&gt;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Load 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tflite::Model* model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tflite::GetModel(mnist_model);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Create interpreter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tflite::MicroInterpreter interpreter(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model, resolver, arena, arena_size);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interpreter.AllocateTensors();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Copy image → input tensor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float* input = interpreter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.input(0)-&gt;data.f;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i=0; i&lt;784; i++)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input[i] = image_data[0][i]/255.0f;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Run inference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interpreter.Invoke();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Get result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float* output = interpreter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.output(0)-&gt;data.f;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predicted = argmax(output, 10);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Recap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60K train / 10K test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7830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12" y="1234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55448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784 + normalize /255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78308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74320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12344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8892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278892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784→64→64→10</a:t>
            </a:r>
            <a:endParaRPr lang="en-US" sz="8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78308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97764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123444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02336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402336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epochs, SGD, ~97.5% acc</a:t>
            </a:r>
            <a:endParaRPr lang="en-US" sz="8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182880" cy="1828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21208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3832" y="1234440"/>
            <a:ext cx="457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525780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TFLiteConverter → .tflite</a:t>
            </a:r>
            <a:endParaRPr lang="en-US" sz="8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182880" cy="18288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644652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1234440"/>
            <a:ext cx="457200" cy="4572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49224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.h</a:t>
            </a:r>
            <a:endParaRPr lang="en-US" sz="1000" dirty="0"/>
          </a:p>
        </p:txBody>
      </p:sp>
      <p:sp>
        <p:nvSpPr>
          <p:cNvPr id="34" name="Text 21"/>
          <p:cNvSpPr/>
          <p:nvPr/>
        </p:nvSpPr>
        <p:spPr>
          <a:xfrm>
            <a:off x="649224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arrays for model + images</a:t>
            </a:r>
            <a:endParaRPr lang="en-US" sz="8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83080"/>
            <a:ext cx="182880" cy="182880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7680960" y="1051560"/>
            <a:ext cx="1051560" cy="1828800"/>
          </a:xfrm>
          <a:prstGeom prst="rect">
            <a:avLst/>
          </a:prstGeom>
          <a:solidFill>
            <a:srgbClr val="1E293B"/>
          </a:solidFill>
          <a:ln w="889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2712" y="1234440"/>
            <a:ext cx="457200" cy="4572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7726680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9" name="Text 24"/>
          <p:cNvSpPr/>
          <p:nvPr/>
        </p:nvSpPr>
        <p:spPr>
          <a:xfrm>
            <a:off x="7726680" y="2148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to ESP32-C3, infer!</a:t>
            </a:r>
            <a:endParaRPr lang="en-US" sz="850" dirty="0"/>
          </a:p>
        </p:txBody>
      </p:sp>
      <p:sp>
        <p:nvSpPr>
          <p:cNvPr id="40" name="Text 2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41" name="Shape 26"/>
          <p:cNvSpPr/>
          <p:nvPr/>
        </p:nvSpPr>
        <p:spPr>
          <a:xfrm>
            <a:off x="457200" y="3611880"/>
            <a:ext cx="260604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7"/>
          <p:cNvSpPr/>
          <p:nvPr/>
        </p:nvSpPr>
        <p:spPr>
          <a:xfrm>
            <a:off x="59436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300" dirty="0"/>
          </a:p>
        </p:txBody>
      </p:sp>
      <p:sp>
        <p:nvSpPr>
          <p:cNvPr id="43" name="Text 28"/>
          <p:cNvSpPr/>
          <p:nvPr/>
        </p:nvSpPr>
        <p:spPr>
          <a:xfrm>
            <a:off x="59436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powerful PC (Google Colab) for all the heavy training work</a:t>
            </a:r>
            <a:endParaRPr lang="en-US" sz="1050" dirty="0"/>
          </a:p>
        </p:txBody>
      </p:sp>
      <p:sp>
        <p:nvSpPr>
          <p:cNvPr id="44" name="Shape 29"/>
          <p:cNvSpPr/>
          <p:nvPr/>
        </p:nvSpPr>
        <p:spPr>
          <a:xfrm>
            <a:off x="3291840" y="3611880"/>
            <a:ext cx="260604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0"/>
          <p:cNvSpPr/>
          <p:nvPr/>
        </p:nvSpPr>
        <p:spPr>
          <a:xfrm>
            <a:off x="342900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300" dirty="0"/>
          </a:p>
        </p:txBody>
      </p:sp>
      <p:sp>
        <p:nvSpPr>
          <p:cNvPr id="46" name="Text 31"/>
          <p:cNvSpPr/>
          <p:nvPr/>
        </p:nvSpPr>
        <p:spPr>
          <a:xfrm>
            <a:off x="342900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ESP32-C3 only runs predictions — fast and low-power</a:t>
            </a:r>
            <a:endParaRPr lang="en-US" sz="1050" dirty="0"/>
          </a:p>
        </p:txBody>
      </p:sp>
      <p:sp>
        <p:nvSpPr>
          <p:cNvPr id="47" name="Shape 32"/>
          <p:cNvSpPr/>
          <p:nvPr/>
        </p:nvSpPr>
        <p:spPr>
          <a:xfrm>
            <a:off x="6126480" y="3611880"/>
            <a:ext cx="260604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3"/>
          <p:cNvSpPr/>
          <p:nvPr/>
        </p:nvSpPr>
        <p:spPr>
          <a:xfrm>
            <a:off x="626364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is the Bridge</a:t>
            </a:r>
            <a:endParaRPr lang="en-US" sz="1300" dirty="0"/>
          </a:p>
        </p:txBody>
      </p:sp>
      <p:sp>
        <p:nvSpPr>
          <p:cNvPr id="49" name="Text 34"/>
          <p:cNvSpPr/>
          <p:nvPr/>
        </p:nvSpPr>
        <p:spPr>
          <a:xfrm>
            <a:off x="626364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big models to micro-sized formats for embedded systems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3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CCSL Lab  •  KAUST  •  TinyML on ESP32-C3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2936</Words>
  <Application>Microsoft Office PowerPoint</Application>
  <PresentationFormat>On-screen Show (16:9)</PresentationFormat>
  <Paragraphs>396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 Lite on ESP32-C3</dc:title>
  <dc:subject>PptxGenJS Presentation</dc:subject>
  <dc:creator>CCSL - KAUST</dc:creator>
  <cp:lastModifiedBy>Abdelhay Ali</cp:lastModifiedBy>
  <cp:revision>2</cp:revision>
  <dcterms:created xsi:type="dcterms:W3CDTF">2026-03-07T07:40:12Z</dcterms:created>
  <dcterms:modified xsi:type="dcterms:W3CDTF">2026-03-07T07:50:48Z</dcterms:modified>
</cp:coreProperties>
</file>